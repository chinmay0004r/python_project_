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Arimo Bold" charset="1" panose="020B07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98002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38049" y="3217364"/>
            <a:ext cx="9678649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Hotel Booking Data Analysis using Python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28524" y="3745430"/>
            <a:ext cx="10184311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Prepared by: Chinmay Ashok Murkar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28524" y="5311531"/>
            <a:ext cx="9288961" cy="1984155"/>
            <a:chOff x="0" y="0"/>
            <a:chExt cx="12385281" cy="26455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85294" cy="2645497"/>
            </a:xfrm>
            <a:custGeom>
              <a:avLst/>
              <a:gdLst/>
              <a:ahLst/>
              <a:cxnLst/>
              <a:rect r="r" b="b" t="t" l="l"/>
              <a:pathLst>
                <a:path h="2645497" w="12385294">
                  <a:moveTo>
                    <a:pt x="0" y="199398"/>
                  </a:moveTo>
                  <a:cubicBezTo>
                    <a:pt x="0" y="89265"/>
                    <a:pt x="78232" y="0"/>
                    <a:pt x="174752" y="0"/>
                  </a:cubicBezTo>
                  <a:lnTo>
                    <a:pt x="12210542" y="0"/>
                  </a:lnTo>
                  <a:cubicBezTo>
                    <a:pt x="12307062" y="0"/>
                    <a:pt x="12385294" y="89265"/>
                    <a:pt x="12385294" y="199398"/>
                  </a:cubicBezTo>
                  <a:lnTo>
                    <a:pt x="12385294" y="2446099"/>
                  </a:lnTo>
                  <a:cubicBezTo>
                    <a:pt x="12385294" y="2556232"/>
                    <a:pt x="12307062" y="2645497"/>
                    <a:pt x="12210542" y="2645497"/>
                  </a:cubicBezTo>
                  <a:lnTo>
                    <a:pt x="174752" y="2645497"/>
                  </a:lnTo>
                  <a:cubicBezTo>
                    <a:pt x="78232" y="2645497"/>
                    <a:pt x="0" y="2556232"/>
                    <a:pt x="0" y="2446099"/>
                  </a:cubicBezTo>
                  <a:close/>
                </a:path>
              </a:pathLst>
            </a:custGeom>
            <a:solidFill>
              <a:srgbClr val="E6E6E6"/>
            </a:solidFill>
            <a:ln w="19050" cap="sq">
              <a:solidFill>
                <a:srgbClr val="CCCCC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265614" y="5629570"/>
            <a:ext cx="8614772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Tools &amp; Technologies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65614" y="6114755"/>
            <a:ext cx="8614772" cy="95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Python · Pandas · NumPy · Matplotlib · Seaborn · Jupyter Notebook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8538" y="-115643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6419" y="1388564"/>
            <a:ext cx="5991557" cy="4968040"/>
            <a:chOff x="0" y="0"/>
            <a:chExt cx="7988743" cy="662405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988795" cy="6624045"/>
            </a:xfrm>
            <a:custGeom>
              <a:avLst/>
              <a:gdLst/>
              <a:ahLst/>
              <a:cxnLst/>
              <a:rect r="r" b="b" t="t" l="l"/>
              <a:pathLst>
                <a:path h="6624045" w="7988795">
                  <a:moveTo>
                    <a:pt x="0" y="0"/>
                  </a:moveTo>
                  <a:lnTo>
                    <a:pt x="7988795" y="0"/>
                  </a:lnTo>
                  <a:lnTo>
                    <a:pt x="7988795" y="6624045"/>
                  </a:lnTo>
                  <a:lnTo>
                    <a:pt x="0" y="6624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2138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0049" y="6973857"/>
            <a:ext cx="308524" cy="423582"/>
            <a:chOff x="0" y="0"/>
            <a:chExt cx="411366" cy="5647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360" cy="564777"/>
            </a:xfrm>
            <a:custGeom>
              <a:avLst/>
              <a:gdLst/>
              <a:ahLst/>
              <a:cxnLst/>
              <a:rect r="r" b="b" t="t" l="l"/>
              <a:pathLst>
                <a:path h="564777" w="411360">
                  <a:moveTo>
                    <a:pt x="0" y="0"/>
                  </a:moveTo>
                  <a:lnTo>
                    <a:pt x="411360" y="0"/>
                  </a:lnTo>
                  <a:lnTo>
                    <a:pt x="411360" y="564777"/>
                  </a:lnTo>
                  <a:lnTo>
                    <a:pt x="0" y="5647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12" t="0" r="-30213" b="5446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11366" cy="583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383838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7435539"/>
            <a:ext cx="8025413" cy="19050"/>
            <a:chOff x="0" y="0"/>
            <a:chExt cx="10700550" cy="25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00512" cy="25400"/>
            </a:xfrm>
            <a:custGeom>
              <a:avLst/>
              <a:gdLst/>
              <a:ahLst/>
              <a:cxnLst/>
              <a:rect r="r" b="b" t="t" l="l"/>
              <a:pathLst>
                <a:path h="25400" w="10700512">
                  <a:moveTo>
                    <a:pt x="0" y="0"/>
                  </a:moveTo>
                  <a:lnTo>
                    <a:pt x="10700512" y="0"/>
                  </a:lnTo>
                  <a:lnTo>
                    <a:pt x="1070051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54113" y="6973857"/>
            <a:ext cx="308524" cy="423582"/>
            <a:chOff x="0" y="0"/>
            <a:chExt cx="411366" cy="5647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1360" cy="564777"/>
            </a:xfrm>
            <a:custGeom>
              <a:avLst/>
              <a:gdLst/>
              <a:ahLst/>
              <a:cxnLst/>
              <a:rect r="r" b="b" t="t" l="l"/>
              <a:pathLst>
                <a:path h="564777" w="411360">
                  <a:moveTo>
                    <a:pt x="0" y="0"/>
                  </a:moveTo>
                  <a:lnTo>
                    <a:pt x="411360" y="0"/>
                  </a:lnTo>
                  <a:lnTo>
                    <a:pt x="411360" y="564777"/>
                  </a:lnTo>
                  <a:lnTo>
                    <a:pt x="0" y="5647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12" t="0" r="-30213" b="544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11366" cy="583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383838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54113" y="7416489"/>
            <a:ext cx="8025413" cy="19050"/>
            <a:chOff x="0" y="0"/>
            <a:chExt cx="1070055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00512" cy="25400"/>
            </a:xfrm>
            <a:custGeom>
              <a:avLst/>
              <a:gdLst/>
              <a:ahLst/>
              <a:cxnLst/>
              <a:rect r="r" b="b" t="t" l="l"/>
              <a:pathLst>
                <a:path h="25400" w="10700512">
                  <a:moveTo>
                    <a:pt x="0" y="0"/>
                  </a:moveTo>
                  <a:lnTo>
                    <a:pt x="10700512" y="0"/>
                  </a:lnTo>
                  <a:lnTo>
                    <a:pt x="1070051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049" y="8326517"/>
            <a:ext cx="308524" cy="423582"/>
            <a:chOff x="0" y="0"/>
            <a:chExt cx="411366" cy="5647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1360" cy="564777"/>
            </a:xfrm>
            <a:custGeom>
              <a:avLst/>
              <a:gdLst/>
              <a:ahLst/>
              <a:cxnLst/>
              <a:rect r="r" b="b" t="t" l="l"/>
              <a:pathLst>
                <a:path h="564777" w="411360">
                  <a:moveTo>
                    <a:pt x="0" y="0"/>
                  </a:moveTo>
                  <a:lnTo>
                    <a:pt x="411360" y="0"/>
                  </a:lnTo>
                  <a:lnTo>
                    <a:pt x="411360" y="564777"/>
                  </a:lnTo>
                  <a:lnTo>
                    <a:pt x="0" y="5647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12" t="0" r="-30213" b="5446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11366" cy="583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383838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8787579"/>
            <a:ext cx="8025413" cy="19050"/>
            <a:chOff x="0" y="0"/>
            <a:chExt cx="10700550" cy="25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00512" cy="25400"/>
            </a:xfrm>
            <a:custGeom>
              <a:avLst/>
              <a:gdLst/>
              <a:ahLst/>
              <a:cxnLst/>
              <a:rect r="r" b="b" t="t" l="l"/>
              <a:pathLst>
                <a:path h="25400" w="10700512">
                  <a:moveTo>
                    <a:pt x="0" y="0"/>
                  </a:moveTo>
                  <a:lnTo>
                    <a:pt x="10700512" y="0"/>
                  </a:lnTo>
                  <a:lnTo>
                    <a:pt x="1070051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054113" y="8326517"/>
            <a:ext cx="308524" cy="423582"/>
            <a:chOff x="0" y="0"/>
            <a:chExt cx="411366" cy="5647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1360" cy="564777"/>
            </a:xfrm>
            <a:custGeom>
              <a:avLst/>
              <a:gdLst/>
              <a:ahLst/>
              <a:cxnLst/>
              <a:rect r="r" b="b" t="t" l="l"/>
              <a:pathLst>
                <a:path h="564777" w="411360">
                  <a:moveTo>
                    <a:pt x="0" y="0"/>
                  </a:moveTo>
                  <a:lnTo>
                    <a:pt x="411360" y="0"/>
                  </a:lnTo>
                  <a:lnTo>
                    <a:pt x="411360" y="564777"/>
                  </a:lnTo>
                  <a:lnTo>
                    <a:pt x="0" y="5647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12" t="0" r="-30213" b="5446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11366" cy="583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383838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54113" y="8778054"/>
            <a:ext cx="8025413" cy="19050"/>
            <a:chOff x="0" y="0"/>
            <a:chExt cx="10700550" cy="25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00512" cy="25400"/>
            </a:xfrm>
            <a:custGeom>
              <a:avLst/>
              <a:gdLst/>
              <a:ahLst/>
              <a:cxnLst/>
              <a:rect r="r" b="b" t="t" l="l"/>
              <a:pathLst>
                <a:path h="25400" w="10700512">
                  <a:moveTo>
                    <a:pt x="0" y="0"/>
                  </a:moveTo>
                  <a:lnTo>
                    <a:pt x="10700512" y="0"/>
                  </a:lnTo>
                  <a:lnTo>
                    <a:pt x="1070051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768143" y="334343"/>
            <a:ext cx="5748454" cy="5513503"/>
            <a:chOff x="0" y="0"/>
            <a:chExt cx="847437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47437" cy="812800"/>
            </a:xfrm>
            <a:custGeom>
              <a:avLst/>
              <a:gdLst/>
              <a:ahLst/>
              <a:cxnLst/>
              <a:rect r="r" b="b" t="t" l="l"/>
              <a:pathLst>
                <a:path h="812800" w="847437">
                  <a:moveTo>
                    <a:pt x="30976" y="0"/>
                  </a:moveTo>
                  <a:lnTo>
                    <a:pt x="816461" y="0"/>
                  </a:lnTo>
                  <a:cubicBezTo>
                    <a:pt x="833568" y="0"/>
                    <a:pt x="847437" y="13868"/>
                    <a:pt x="847437" y="30976"/>
                  </a:cubicBezTo>
                  <a:lnTo>
                    <a:pt x="847437" y="781824"/>
                  </a:lnTo>
                  <a:cubicBezTo>
                    <a:pt x="847437" y="798932"/>
                    <a:pt x="833568" y="812800"/>
                    <a:pt x="816461" y="812800"/>
                  </a:cubicBezTo>
                  <a:lnTo>
                    <a:pt x="30976" y="812800"/>
                  </a:lnTo>
                  <a:cubicBezTo>
                    <a:pt x="13868" y="812800"/>
                    <a:pt x="0" y="798932"/>
                    <a:pt x="0" y="781824"/>
                  </a:cubicBezTo>
                  <a:lnTo>
                    <a:pt x="0" y="30976"/>
                  </a:lnTo>
                  <a:cubicBezTo>
                    <a:pt x="0" y="13868"/>
                    <a:pt x="13868" y="0"/>
                    <a:pt x="30976" y="0"/>
                  </a:cubicBezTo>
                  <a:close/>
                </a:path>
              </a:pathLst>
            </a:custGeom>
            <a:blipFill>
              <a:blip r:embed="rId5"/>
              <a:stretch>
                <a:fillRect l="-13830" t="0" r="-13830" b="-31272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80049" y="829570"/>
            <a:ext cx="16127911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Project Overview &amp; Objectives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5736" y="5456396"/>
            <a:ext cx="2902991" cy="39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Insights &amp; Actions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5736" y="4293422"/>
            <a:ext cx="2902991" cy="39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F7F7F7"/>
                </a:solidFill>
                <a:latin typeface="Arimo"/>
                <a:ea typeface="Arimo"/>
                <a:cs typeface="Arimo"/>
                <a:sym typeface="Arimo"/>
              </a:rPr>
              <a:t>Visualization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5736" y="3130448"/>
            <a:ext cx="2902991" cy="39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E6E6E6"/>
                </a:solidFill>
                <a:latin typeface="Arimo"/>
                <a:ea typeface="Arimo"/>
                <a:cs typeface="Arimo"/>
                <a:sym typeface="Arimo"/>
              </a:rPr>
              <a:t>Exploratory Analysis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5736" y="1967474"/>
            <a:ext cx="2902991" cy="39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E6E6E6"/>
                </a:solidFill>
                <a:latin typeface="Arimo"/>
                <a:ea typeface="Arimo"/>
                <a:cs typeface="Arimo"/>
                <a:sym typeface="Arimo"/>
              </a:rPr>
              <a:t>Data Cleaning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0049" y="6209795"/>
            <a:ext cx="1651183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Analyze hotel booking data to reveal customer behavior, booking patterns, and cancellation drivers so stakeholders can take targeted actions to increase revenue and reduce churn.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7530879"/>
            <a:ext cx="2327239" cy="33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0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Understand dataset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7745492"/>
            <a:ext cx="426817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Assess structure, quality, and scope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054113" y="7530879"/>
            <a:ext cx="2341635" cy="33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0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Clean &amp; preprocess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54113" y="7733286"/>
            <a:ext cx="460945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Deduplicate, impute, and convert types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80049" y="8901879"/>
            <a:ext cx="2326698" cy="33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0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EDA &amp; visualization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0049" y="9123336"/>
            <a:ext cx="486099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Uncover trends, outliers, and correlations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05462" y="8920929"/>
            <a:ext cx="1807910" cy="33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0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Deliver insights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43924" y="9146681"/>
            <a:ext cx="69067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Actionable recommendations for operations and marketing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66155" y="1468784"/>
            <a:ext cx="8863341" cy="7070373"/>
            <a:chOff x="0" y="0"/>
            <a:chExt cx="13154124" cy="104931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54061" cy="10493121"/>
            </a:xfrm>
            <a:custGeom>
              <a:avLst/>
              <a:gdLst/>
              <a:ahLst/>
              <a:cxnLst/>
              <a:rect r="r" b="b" t="t" l="l"/>
              <a:pathLst>
                <a:path h="10493121" w="13154061">
                  <a:moveTo>
                    <a:pt x="0" y="0"/>
                  </a:moveTo>
                  <a:lnTo>
                    <a:pt x="13154061" y="0"/>
                  </a:lnTo>
                  <a:lnTo>
                    <a:pt x="13154061" y="10493121"/>
                  </a:lnTo>
                  <a:lnTo>
                    <a:pt x="0" y="10493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47" t="-324" r="0" b="-32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80049" y="827332"/>
            <a:ext cx="16127911" cy="42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Dataset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44595" y="2422561"/>
            <a:ext cx="2141610" cy="584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699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44595" y="3259710"/>
            <a:ext cx="7869879" cy="153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2" indent="-301621" lvl="1">
              <a:lnSpc>
                <a:spcPts val="3029"/>
              </a:lnSpc>
              <a:buFont typeface="Arial"/>
              <a:buChar char="•"/>
            </a:pPr>
            <a:r>
              <a:rPr lang="en-US" sz="24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Original records: 119,390</a:t>
            </a:r>
          </a:p>
          <a:p>
            <a:pPr algn="l" marL="603242" indent="-301621" lvl="1">
              <a:lnSpc>
                <a:spcPts val="3029"/>
              </a:lnSpc>
              <a:buFont typeface="Arial"/>
              <a:buChar char="•"/>
            </a:pPr>
            <a:r>
              <a:rPr lang="en-US" sz="24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Cleaned records: 87,396</a:t>
            </a:r>
          </a:p>
          <a:p>
            <a:pPr algn="l" marL="603242" indent="-301621" lvl="1">
              <a:lnSpc>
                <a:spcPts val="3029"/>
              </a:lnSpc>
              <a:buFont typeface="Arial"/>
              <a:buChar char="•"/>
            </a:pPr>
            <a:r>
              <a:rPr lang="en-US" sz="24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Total features: 32 (20 numeric, 12 categorical)</a:t>
            </a:r>
          </a:p>
          <a:p>
            <a:pPr algn="l" marL="603242" indent="-301621" lvl="1">
              <a:lnSpc>
                <a:spcPts val="3029"/>
              </a:lnSpc>
              <a:buFont typeface="Arial"/>
              <a:buChar char="•"/>
            </a:pPr>
            <a:r>
              <a:rPr lang="en-US" sz="24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Dataset size: 29.1 MB | Period: 2015–2017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44595" y="5124450"/>
            <a:ext cx="8643405" cy="144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7"/>
              </a:lnSpc>
            </a:pPr>
            <a:r>
              <a:rPr lang="en-US" sz="30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Contains customer profiles, booking metadata, hotel type, reservation status, ADR, and market segment.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038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0999" y="3755974"/>
            <a:ext cx="4518717" cy="3277495"/>
            <a:chOff x="0" y="0"/>
            <a:chExt cx="6024956" cy="43699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25007" cy="4370070"/>
            </a:xfrm>
            <a:custGeom>
              <a:avLst/>
              <a:gdLst/>
              <a:ahLst/>
              <a:cxnLst/>
              <a:rect r="r" b="b" t="t" l="l"/>
              <a:pathLst>
                <a:path h="4370070" w="6025007">
                  <a:moveTo>
                    <a:pt x="0" y="174879"/>
                  </a:moveTo>
                  <a:cubicBezTo>
                    <a:pt x="0" y="78232"/>
                    <a:pt x="78232" y="0"/>
                    <a:pt x="174879" y="0"/>
                  </a:cubicBezTo>
                  <a:lnTo>
                    <a:pt x="5850128" y="0"/>
                  </a:lnTo>
                  <a:cubicBezTo>
                    <a:pt x="5946648" y="0"/>
                    <a:pt x="6025007" y="78232"/>
                    <a:pt x="6025007" y="174879"/>
                  </a:cubicBezTo>
                  <a:lnTo>
                    <a:pt x="6025007" y="4195191"/>
                  </a:lnTo>
                  <a:cubicBezTo>
                    <a:pt x="6025007" y="4291711"/>
                    <a:pt x="5946775" y="4370070"/>
                    <a:pt x="5850128" y="4370070"/>
                  </a:cubicBezTo>
                  <a:lnTo>
                    <a:pt x="174879" y="4370070"/>
                  </a:lnTo>
                  <a:cubicBezTo>
                    <a:pt x="78232" y="4369943"/>
                    <a:pt x="0" y="4291711"/>
                    <a:pt x="0" y="4195191"/>
                  </a:cubicBezTo>
                  <a:close/>
                </a:path>
              </a:pathLst>
            </a:custGeom>
            <a:solidFill>
              <a:srgbClr val="F7F7F7"/>
            </a:solidFill>
            <a:ln w="381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850141" y="3755974"/>
            <a:ext cx="4518870" cy="3277495"/>
            <a:chOff x="0" y="0"/>
            <a:chExt cx="6025159" cy="43699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25134" cy="4370070"/>
            </a:xfrm>
            <a:custGeom>
              <a:avLst/>
              <a:gdLst/>
              <a:ahLst/>
              <a:cxnLst/>
              <a:rect r="r" b="b" t="t" l="l"/>
              <a:pathLst>
                <a:path h="4370070" w="6025134">
                  <a:moveTo>
                    <a:pt x="0" y="174879"/>
                  </a:moveTo>
                  <a:cubicBezTo>
                    <a:pt x="0" y="78232"/>
                    <a:pt x="78232" y="0"/>
                    <a:pt x="174879" y="0"/>
                  </a:cubicBezTo>
                  <a:lnTo>
                    <a:pt x="5850255" y="0"/>
                  </a:lnTo>
                  <a:cubicBezTo>
                    <a:pt x="5946775" y="0"/>
                    <a:pt x="6025134" y="78232"/>
                    <a:pt x="6025134" y="174879"/>
                  </a:cubicBezTo>
                  <a:lnTo>
                    <a:pt x="6025134" y="4195191"/>
                  </a:lnTo>
                  <a:cubicBezTo>
                    <a:pt x="6025134" y="4291711"/>
                    <a:pt x="5946902" y="4370070"/>
                    <a:pt x="5850255" y="4370070"/>
                  </a:cubicBezTo>
                  <a:lnTo>
                    <a:pt x="174879" y="4370070"/>
                  </a:lnTo>
                  <a:cubicBezTo>
                    <a:pt x="78232" y="4369943"/>
                    <a:pt x="0" y="4291711"/>
                    <a:pt x="0" y="4195191"/>
                  </a:cubicBezTo>
                  <a:close/>
                </a:path>
              </a:pathLst>
            </a:custGeom>
            <a:solidFill>
              <a:srgbClr val="F7F7F7"/>
            </a:solidFill>
            <a:ln w="38100" cap="sq">
              <a:solidFill>
                <a:srgbClr val="CCCCC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60999" y="7303894"/>
            <a:ext cx="9308011" cy="1796063"/>
            <a:chOff x="0" y="0"/>
            <a:chExt cx="12410681" cy="2394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10694" cy="2394712"/>
            </a:xfrm>
            <a:custGeom>
              <a:avLst/>
              <a:gdLst/>
              <a:ahLst/>
              <a:cxnLst/>
              <a:rect r="r" b="b" t="t" l="l"/>
              <a:pathLst>
                <a:path h="2394712" w="12410694">
                  <a:moveTo>
                    <a:pt x="0" y="176530"/>
                  </a:moveTo>
                  <a:cubicBezTo>
                    <a:pt x="0" y="78994"/>
                    <a:pt x="78994" y="0"/>
                    <a:pt x="176530" y="0"/>
                  </a:cubicBezTo>
                  <a:lnTo>
                    <a:pt x="12234164" y="0"/>
                  </a:lnTo>
                  <a:cubicBezTo>
                    <a:pt x="12331700" y="0"/>
                    <a:pt x="12410694" y="78994"/>
                    <a:pt x="12410694" y="176530"/>
                  </a:cubicBezTo>
                  <a:lnTo>
                    <a:pt x="12410694" y="2218182"/>
                  </a:lnTo>
                  <a:cubicBezTo>
                    <a:pt x="12410694" y="2315718"/>
                    <a:pt x="12331700" y="2394712"/>
                    <a:pt x="12234164" y="2394712"/>
                  </a:cubicBezTo>
                  <a:lnTo>
                    <a:pt x="176530" y="2394712"/>
                  </a:lnTo>
                  <a:cubicBezTo>
                    <a:pt x="78994" y="2394712"/>
                    <a:pt x="0" y="2315718"/>
                    <a:pt x="0" y="2218182"/>
                  </a:cubicBezTo>
                  <a:close/>
                </a:path>
              </a:pathLst>
            </a:custGeom>
            <a:solidFill>
              <a:srgbClr val="F7F7F7"/>
            </a:solidFill>
            <a:ln w="38100" cap="sq">
              <a:solidFill>
                <a:srgbClr val="CCCCCC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80049" y="1168003"/>
            <a:ext cx="9269911" cy="8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Data Cleaning &amp; Preprocessing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049" y="2335559"/>
            <a:ext cx="9269911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We removed duplicates, handled missing values, and standardized types to prepare a reliable dataset for analysis.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6664" y="4102598"/>
            <a:ext cx="3787378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Key Actions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6664" y="4587773"/>
            <a:ext cx="3787378" cy="20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Removed 31,994 duplicate records; imputed/flagged missing values; verified data types; sanitized ADR and lead-time fields.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15805" y="4102598"/>
            <a:ext cx="3787531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Missing values (notable)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15805" y="4587773"/>
            <a:ext cx="3787531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Children: 0.003% · Country: 0.41% · Agent: 13.69% · Company: 94.31%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6664" y="7650509"/>
            <a:ext cx="8576672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Record counts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6664" y="8135693"/>
            <a:ext cx="8576672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Before: 119,390 → After cleaning: 87,396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1980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062085" y="1725478"/>
            <a:ext cx="4918651" cy="4807591"/>
            <a:chOff x="0" y="0"/>
            <a:chExt cx="6558202" cy="6410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58201" cy="6410122"/>
            </a:xfrm>
            <a:custGeom>
              <a:avLst/>
              <a:gdLst/>
              <a:ahLst/>
              <a:cxnLst/>
              <a:rect r="r" b="b" t="t" l="l"/>
              <a:pathLst>
                <a:path h="6410122" w="6558201">
                  <a:moveTo>
                    <a:pt x="0" y="0"/>
                  </a:moveTo>
                  <a:lnTo>
                    <a:pt x="6558201" y="0"/>
                  </a:lnTo>
                  <a:lnTo>
                    <a:pt x="6558201" y="6410122"/>
                  </a:lnTo>
                  <a:lnTo>
                    <a:pt x="0" y="6410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558" t="0" r="-14558" b="0"/>
              </a:stretch>
            </a:blipFill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423407" y="3148765"/>
            <a:ext cx="663026" cy="663026"/>
          </a:xfrm>
          <a:custGeom>
            <a:avLst/>
            <a:gdLst/>
            <a:ahLst/>
            <a:cxnLst/>
            <a:rect r="r" b="b" t="t" l="l"/>
            <a:pathLst>
              <a:path h="663026" w="663026">
                <a:moveTo>
                  <a:pt x="0" y="0"/>
                </a:moveTo>
                <a:lnTo>
                  <a:pt x="663026" y="0"/>
                </a:lnTo>
                <a:lnTo>
                  <a:pt x="663026" y="663026"/>
                </a:lnTo>
                <a:lnTo>
                  <a:pt x="0" y="663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13" r="0" b="-71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2109" y="4183266"/>
            <a:ext cx="9269911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Booking Trends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252109" y="5510955"/>
            <a:ext cx="663026" cy="663026"/>
          </a:xfrm>
          <a:custGeom>
            <a:avLst/>
            <a:gdLst/>
            <a:ahLst/>
            <a:cxnLst/>
            <a:rect r="r" b="b" t="t" l="l"/>
            <a:pathLst>
              <a:path h="663026" w="663026">
                <a:moveTo>
                  <a:pt x="0" y="0"/>
                </a:moveTo>
                <a:lnTo>
                  <a:pt x="663026" y="0"/>
                </a:lnTo>
                <a:lnTo>
                  <a:pt x="663026" y="663026"/>
                </a:lnTo>
                <a:lnTo>
                  <a:pt x="0" y="6630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43" t="0" r="-214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2109" y="6449320"/>
            <a:ext cx="9269911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Hotel Mix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2109" y="6869754"/>
            <a:ext cx="9269911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City vs Resort distributions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252109" y="7777010"/>
            <a:ext cx="663026" cy="663026"/>
          </a:xfrm>
          <a:custGeom>
            <a:avLst/>
            <a:gdLst/>
            <a:ahLst/>
            <a:cxnLst/>
            <a:rect r="r" b="b" t="t" l="l"/>
            <a:pathLst>
              <a:path h="663026" w="663026">
                <a:moveTo>
                  <a:pt x="0" y="0"/>
                </a:moveTo>
                <a:lnTo>
                  <a:pt x="663026" y="0"/>
                </a:lnTo>
                <a:lnTo>
                  <a:pt x="663026" y="663026"/>
                </a:lnTo>
                <a:lnTo>
                  <a:pt x="0" y="6630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999" t="0" r="-500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2109" y="8715375"/>
            <a:ext cx="9269911" cy="3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Data Quality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2109" y="9135818"/>
            <a:ext cx="9269911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Outliers in ADR and gaps in agent/company fields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026753" y="6710167"/>
            <a:ext cx="5147048" cy="3459737"/>
            <a:chOff x="0" y="0"/>
            <a:chExt cx="9964995" cy="66982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64996" cy="6698259"/>
            </a:xfrm>
            <a:custGeom>
              <a:avLst/>
              <a:gdLst/>
              <a:ahLst/>
              <a:cxnLst/>
              <a:rect r="r" b="b" t="t" l="l"/>
              <a:pathLst>
                <a:path h="6698259" w="9964996">
                  <a:moveTo>
                    <a:pt x="0" y="0"/>
                  </a:moveTo>
                  <a:lnTo>
                    <a:pt x="9964996" y="0"/>
                  </a:lnTo>
                  <a:lnTo>
                    <a:pt x="9964996" y="6698259"/>
                  </a:lnTo>
                  <a:lnTo>
                    <a:pt x="0" y="6698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781" t="0" r="-478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00110" y="2560268"/>
            <a:ext cx="6012445" cy="3927929"/>
            <a:chOff x="0" y="0"/>
            <a:chExt cx="9811915" cy="64101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11915" cy="6410122"/>
            </a:xfrm>
            <a:custGeom>
              <a:avLst/>
              <a:gdLst/>
              <a:ahLst/>
              <a:cxnLst/>
              <a:rect r="r" b="b" t="t" l="l"/>
              <a:pathLst>
                <a:path h="6410122" w="9811915">
                  <a:moveTo>
                    <a:pt x="0" y="0"/>
                  </a:moveTo>
                  <a:lnTo>
                    <a:pt x="9811915" y="0"/>
                  </a:lnTo>
                  <a:lnTo>
                    <a:pt x="9811915" y="6410122"/>
                  </a:lnTo>
                  <a:lnTo>
                    <a:pt x="0" y="6410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096" t="0" r="-4096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900110" y="6458845"/>
            <a:ext cx="5995427" cy="4053006"/>
            <a:chOff x="0" y="0"/>
            <a:chExt cx="7993903" cy="54040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93904" cy="5404009"/>
            </a:xfrm>
            <a:custGeom>
              <a:avLst/>
              <a:gdLst/>
              <a:ahLst/>
              <a:cxnLst/>
              <a:rect r="r" b="b" t="t" l="l"/>
              <a:pathLst>
                <a:path h="5404009" w="7993904">
                  <a:moveTo>
                    <a:pt x="0" y="0"/>
                  </a:moveTo>
                  <a:lnTo>
                    <a:pt x="7993904" y="0"/>
                  </a:lnTo>
                  <a:lnTo>
                    <a:pt x="7993904" y="5404009"/>
                  </a:lnTo>
                  <a:lnTo>
                    <a:pt x="0" y="5404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294" t="0" r="-1294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844373" y="200382"/>
            <a:ext cx="10136363" cy="959963"/>
            <a:chOff x="0" y="0"/>
            <a:chExt cx="1570388" cy="1487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0388" cy="148723"/>
            </a:xfrm>
            <a:custGeom>
              <a:avLst/>
              <a:gdLst/>
              <a:ahLst/>
              <a:cxnLst/>
              <a:rect r="r" b="b" t="t" l="l"/>
              <a:pathLst>
                <a:path h="148723" w="1570388">
                  <a:moveTo>
                    <a:pt x="17567" y="0"/>
                  </a:moveTo>
                  <a:lnTo>
                    <a:pt x="1552821" y="0"/>
                  </a:lnTo>
                  <a:cubicBezTo>
                    <a:pt x="1562523" y="0"/>
                    <a:pt x="1570388" y="7865"/>
                    <a:pt x="1570388" y="17567"/>
                  </a:cubicBezTo>
                  <a:lnTo>
                    <a:pt x="1570388" y="131156"/>
                  </a:lnTo>
                  <a:cubicBezTo>
                    <a:pt x="1570388" y="140858"/>
                    <a:pt x="1562523" y="148723"/>
                    <a:pt x="1552821" y="148723"/>
                  </a:cubicBezTo>
                  <a:lnTo>
                    <a:pt x="17567" y="148723"/>
                  </a:lnTo>
                  <a:cubicBezTo>
                    <a:pt x="7865" y="148723"/>
                    <a:pt x="0" y="140858"/>
                    <a:pt x="0" y="131156"/>
                  </a:cubicBezTo>
                  <a:lnTo>
                    <a:pt x="0" y="17567"/>
                  </a:lnTo>
                  <a:cubicBezTo>
                    <a:pt x="0" y="7865"/>
                    <a:pt x="7865" y="0"/>
                    <a:pt x="17567" y="0"/>
                  </a:cubicBezTo>
                  <a:close/>
                </a:path>
              </a:pathLst>
            </a:custGeom>
            <a:blipFill>
              <a:blip r:embed="rId13"/>
              <a:stretch>
                <a:fillRect l="-5548" t="0" r="-5548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423407" y="793852"/>
            <a:ext cx="7614031" cy="66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Exploratory Data Analysis (EDA)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2109" y="4603699"/>
            <a:ext cx="9269911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Seasonality and weekly patterns examined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3407" y="1668328"/>
            <a:ext cx="7614031" cy="109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Focused EDA areas: hotel distribution, cancellations, lead time, ADR, customer composition, repeat guests, booking changes, and special requests.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5374" y="3182836"/>
            <a:ext cx="5690354" cy="5155406"/>
            <a:chOff x="0" y="0"/>
            <a:chExt cx="7587139" cy="6873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87139" cy="6873875"/>
            </a:xfrm>
            <a:custGeom>
              <a:avLst/>
              <a:gdLst/>
              <a:ahLst/>
              <a:cxnLst/>
              <a:rect r="r" b="b" t="t" l="l"/>
              <a:pathLst>
                <a:path h="6873875" w="7587139">
                  <a:moveTo>
                    <a:pt x="0" y="0"/>
                  </a:moveTo>
                  <a:lnTo>
                    <a:pt x="7587139" y="0"/>
                  </a:lnTo>
                  <a:lnTo>
                    <a:pt x="7587139" y="6873875"/>
                  </a:lnTo>
                  <a:lnTo>
                    <a:pt x="0" y="6873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57" r="0" b="-95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80049" y="1340644"/>
            <a:ext cx="16127911" cy="8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Booking &amp; Customer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97751" y="2883398"/>
            <a:ext cx="10219582" cy="65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Hotel Distribution &amp; Customer Snapshot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97751" y="3742430"/>
            <a:ext cx="11133982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Bookings by hotel type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97751" y="4513955"/>
            <a:ext cx="10219582" cy="120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City Hotel: 53,428 (61%)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Resort Hotel: 33,968 (39%)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97751" y="5887193"/>
            <a:ext cx="11133982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Customer composition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97751" y="6658718"/>
            <a:ext cx="10219582" cy="120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Average party: 2 adults</a:t>
            </a:r>
          </a:p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Repeat guests: 3.2%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97751" y="8031956"/>
            <a:ext cx="11133982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Recommended visuals: Pie for hotel split; bar chart for group sizes and repeat-guest share.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9372" y="5071972"/>
            <a:ext cx="6059330" cy="4204236"/>
            <a:chOff x="0" y="0"/>
            <a:chExt cx="13626109" cy="9454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26085" cy="9454337"/>
            </a:xfrm>
            <a:custGeom>
              <a:avLst/>
              <a:gdLst/>
              <a:ahLst/>
              <a:cxnLst/>
              <a:rect r="r" b="b" t="t" l="l"/>
              <a:pathLst>
                <a:path h="9454337" w="13626085">
                  <a:moveTo>
                    <a:pt x="0" y="0"/>
                  </a:moveTo>
                  <a:lnTo>
                    <a:pt x="13626085" y="0"/>
                  </a:lnTo>
                  <a:lnTo>
                    <a:pt x="13626085" y="9454337"/>
                  </a:lnTo>
                  <a:lnTo>
                    <a:pt x="0" y="945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0" r="0" b="-16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11700" y="2864157"/>
            <a:ext cx="5693644" cy="4035965"/>
            <a:chOff x="0" y="0"/>
            <a:chExt cx="666546" cy="4724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6546" cy="472484"/>
            </a:xfrm>
            <a:custGeom>
              <a:avLst/>
              <a:gdLst/>
              <a:ahLst/>
              <a:cxnLst/>
              <a:rect r="r" b="b" t="t" l="l"/>
              <a:pathLst>
                <a:path h="472484" w="666546">
                  <a:moveTo>
                    <a:pt x="31274" y="0"/>
                  </a:moveTo>
                  <a:lnTo>
                    <a:pt x="635271" y="0"/>
                  </a:lnTo>
                  <a:cubicBezTo>
                    <a:pt x="652544" y="0"/>
                    <a:pt x="666546" y="14002"/>
                    <a:pt x="666546" y="31274"/>
                  </a:cubicBezTo>
                  <a:lnTo>
                    <a:pt x="666546" y="441210"/>
                  </a:lnTo>
                  <a:cubicBezTo>
                    <a:pt x="666546" y="458482"/>
                    <a:pt x="652544" y="472484"/>
                    <a:pt x="635271" y="472484"/>
                  </a:cubicBezTo>
                  <a:lnTo>
                    <a:pt x="31274" y="472484"/>
                  </a:lnTo>
                  <a:cubicBezTo>
                    <a:pt x="14002" y="472484"/>
                    <a:pt x="0" y="458482"/>
                    <a:pt x="0" y="441210"/>
                  </a:cubicBezTo>
                  <a:lnTo>
                    <a:pt x="0" y="31274"/>
                  </a:lnTo>
                  <a:cubicBezTo>
                    <a:pt x="0" y="14002"/>
                    <a:pt x="14002" y="0"/>
                    <a:pt x="31274" y="0"/>
                  </a:cubicBezTo>
                  <a:close/>
                </a:path>
              </a:pathLst>
            </a:custGeom>
            <a:blipFill>
              <a:blip r:embed="rId4"/>
              <a:stretch>
                <a:fillRect l="-706" t="0" r="-70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049" y="1077963"/>
            <a:ext cx="16127911" cy="8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Cancellation &amp; Pricing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29194" y="3123767"/>
            <a:ext cx="5155406" cy="636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Cancellation</a:t>
            </a: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37% — a material revenue leak that requires targeted countermeasures.</a:t>
            </a:r>
          </a:p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Lead time</a:t>
            </a: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Mean 104 days (some bookings &gt;700 days) — indicates advanced planning behavior.</a:t>
            </a:r>
          </a:p>
          <a:p>
            <a:pPr algn="l">
              <a:lnSpc>
                <a:spcPts val="3830"/>
              </a:lnSpc>
            </a:pPr>
            <a:r>
              <a:rPr lang="en-US" sz="2400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ADR</a:t>
            </a: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Mean $101.83 with suspicious values (negative and extremely high) — needs cleansing and business validation.</a:t>
            </a:r>
          </a:p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Recommended visuals: Donut for cancellations, histogram for lead time, box plot for ADR with flagged outliers.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86179" y="1957087"/>
            <a:ext cx="9401821" cy="6281567"/>
            <a:chOff x="0" y="0"/>
            <a:chExt cx="11788411" cy="78761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8411" cy="7876101"/>
            </a:xfrm>
            <a:custGeom>
              <a:avLst/>
              <a:gdLst/>
              <a:ahLst/>
              <a:cxnLst/>
              <a:rect r="r" b="b" t="t" l="l"/>
              <a:pathLst>
                <a:path h="7876101" w="11788411">
                  <a:moveTo>
                    <a:pt x="0" y="0"/>
                  </a:moveTo>
                  <a:lnTo>
                    <a:pt x="11788411" y="0"/>
                  </a:lnTo>
                  <a:lnTo>
                    <a:pt x="11788411" y="7876101"/>
                  </a:lnTo>
                  <a:lnTo>
                    <a:pt x="0" y="787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9" t="0" r="-10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9231" y="2969643"/>
            <a:ext cx="154191" cy="154191"/>
            <a:chOff x="0" y="0"/>
            <a:chExt cx="205588" cy="2055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486" cy="205486"/>
            </a:xfrm>
            <a:custGeom>
              <a:avLst/>
              <a:gdLst/>
              <a:ahLst/>
              <a:cxnLst/>
              <a:rect r="r" b="b" t="t" l="l"/>
              <a:pathLst>
                <a:path h="205486" w="205486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cubicBezTo>
                    <a:pt x="159512" y="0"/>
                    <a:pt x="205486" y="45974"/>
                    <a:pt x="205486" y="102743"/>
                  </a:cubicBezTo>
                  <a:cubicBezTo>
                    <a:pt x="205486" y="159512"/>
                    <a:pt x="159512" y="205486"/>
                    <a:pt x="102743" y="205486"/>
                  </a:cubicBezTo>
                  <a:cubicBezTo>
                    <a:pt x="45974" y="205486"/>
                    <a:pt x="0" y="159512"/>
                    <a:pt x="0" y="102743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9231" y="5145362"/>
            <a:ext cx="154191" cy="154191"/>
            <a:chOff x="0" y="0"/>
            <a:chExt cx="205588" cy="2055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5486" cy="205486"/>
            </a:xfrm>
            <a:custGeom>
              <a:avLst/>
              <a:gdLst/>
              <a:ahLst/>
              <a:cxnLst/>
              <a:rect r="r" b="b" t="t" l="l"/>
              <a:pathLst>
                <a:path h="205486" w="205486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cubicBezTo>
                    <a:pt x="159512" y="0"/>
                    <a:pt x="205486" y="45974"/>
                    <a:pt x="205486" y="102743"/>
                  </a:cubicBezTo>
                  <a:cubicBezTo>
                    <a:pt x="205486" y="159512"/>
                    <a:pt x="159512" y="205486"/>
                    <a:pt x="102743" y="205486"/>
                  </a:cubicBezTo>
                  <a:cubicBezTo>
                    <a:pt x="45974" y="205486"/>
                    <a:pt x="0" y="159512"/>
                    <a:pt x="0" y="102743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9231" y="7321072"/>
            <a:ext cx="154191" cy="154191"/>
            <a:chOff x="0" y="0"/>
            <a:chExt cx="205588" cy="2055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486" cy="205486"/>
            </a:xfrm>
            <a:custGeom>
              <a:avLst/>
              <a:gdLst/>
              <a:ahLst/>
              <a:cxnLst/>
              <a:rect r="r" b="b" t="t" l="l"/>
              <a:pathLst>
                <a:path h="205486" w="205486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cubicBezTo>
                    <a:pt x="159512" y="0"/>
                    <a:pt x="205486" y="45974"/>
                    <a:pt x="205486" y="102743"/>
                  </a:cubicBezTo>
                  <a:cubicBezTo>
                    <a:pt x="205486" y="159512"/>
                    <a:pt x="159512" y="205486"/>
                    <a:pt x="102743" y="205486"/>
                  </a:cubicBezTo>
                  <a:cubicBezTo>
                    <a:pt x="45974" y="205486"/>
                    <a:pt x="0" y="159512"/>
                    <a:pt x="0" y="102743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19231" y="1533301"/>
            <a:ext cx="9269911" cy="8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Key Findings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1937" y="2786582"/>
            <a:ext cx="880720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Data &amp; Quality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1937" y="3271757"/>
            <a:ext cx="8807206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Cleaned dataset of 87,396 records after removing 31,994 duplicates; notable missing agent/company fields and ADR anomalies.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1937" y="4962301"/>
            <a:ext cx="880720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Business Patterns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1937" y="5447476"/>
            <a:ext cx="8807206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City hotels dominate (61%). Average lead time is long (104 days). Repeat guests are low (~3%).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1937" y="7138021"/>
            <a:ext cx="880720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Risks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1937" y="7623196"/>
            <a:ext cx="8262063" cy="95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Cancellation rate at 37% materially affects revenue; ADR outliers could distort pricing analytics.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00995"/>
            <a:ext cx="5310404" cy="54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</a:pPr>
            <a:r>
              <a:rPr lang="en-US" sz="32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Business Recommendations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975977" y="1444419"/>
            <a:ext cx="6447387" cy="11662467"/>
            <a:chOff x="0" y="0"/>
            <a:chExt cx="8596516" cy="155499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96502" cy="15549880"/>
            </a:xfrm>
            <a:custGeom>
              <a:avLst/>
              <a:gdLst/>
              <a:ahLst/>
              <a:cxnLst/>
              <a:rect r="r" b="b" t="t" l="l"/>
              <a:pathLst>
                <a:path h="15549880" w="8596502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8448421" y="0"/>
                  </a:lnTo>
                  <a:cubicBezTo>
                    <a:pt x="8530209" y="0"/>
                    <a:pt x="8596502" y="66294"/>
                    <a:pt x="8596502" y="148082"/>
                  </a:cubicBezTo>
                  <a:lnTo>
                    <a:pt x="8596502" y="15401798"/>
                  </a:lnTo>
                  <a:cubicBezTo>
                    <a:pt x="8596502" y="15483587"/>
                    <a:pt x="8530209" y="15549880"/>
                    <a:pt x="8448421" y="15549880"/>
                  </a:cubicBezTo>
                  <a:lnTo>
                    <a:pt x="148082" y="15549880"/>
                  </a:lnTo>
                  <a:cubicBezTo>
                    <a:pt x="66294" y="15549880"/>
                    <a:pt x="0" y="15483587"/>
                    <a:pt x="0" y="15401798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752053" y="380405"/>
            <a:ext cx="6665841" cy="9906595"/>
            <a:chOff x="0" y="0"/>
            <a:chExt cx="10226142" cy="151978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26091" cy="15197744"/>
            </a:xfrm>
            <a:custGeom>
              <a:avLst/>
              <a:gdLst/>
              <a:ahLst/>
              <a:cxnLst/>
              <a:rect r="r" b="b" t="t" l="l"/>
              <a:pathLst>
                <a:path h="15197744" w="10226091">
                  <a:moveTo>
                    <a:pt x="0" y="0"/>
                  </a:moveTo>
                  <a:lnTo>
                    <a:pt x="10226091" y="0"/>
                  </a:lnTo>
                  <a:lnTo>
                    <a:pt x="10226091" y="15197744"/>
                  </a:lnTo>
                  <a:lnTo>
                    <a:pt x="0" y="15197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65" r="0" b="-4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691142" y="12254808"/>
            <a:ext cx="9526191" cy="416423"/>
            <a:chOff x="0" y="0"/>
            <a:chExt cx="12701588" cy="5552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01524" cy="555117"/>
            </a:xfrm>
            <a:custGeom>
              <a:avLst/>
              <a:gdLst/>
              <a:ahLst/>
              <a:cxnLst/>
              <a:rect r="r" b="b" t="t" l="l"/>
              <a:pathLst>
                <a:path h="555117" w="12701524">
                  <a:moveTo>
                    <a:pt x="0" y="86360"/>
                  </a:moveTo>
                  <a:cubicBezTo>
                    <a:pt x="0" y="38735"/>
                    <a:pt x="38735" y="0"/>
                    <a:pt x="86360" y="0"/>
                  </a:cubicBezTo>
                  <a:lnTo>
                    <a:pt x="12615164" y="0"/>
                  </a:lnTo>
                  <a:cubicBezTo>
                    <a:pt x="12662916" y="0"/>
                    <a:pt x="12701524" y="38735"/>
                    <a:pt x="12701524" y="86360"/>
                  </a:cubicBezTo>
                  <a:lnTo>
                    <a:pt x="12701524" y="468757"/>
                  </a:lnTo>
                  <a:cubicBezTo>
                    <a:pt x="12701524" y="516509"/>
                    <a:pt x="12662789" y="555117"/>
                    <a:pt x="12615164" y="555117"/>
                  </a:cubicBezTo>
                  <a:lnTo>
                    <a:pt x="86360" y="555117"/>
                  </a:lnTo>
                  <a:cubicBezTo>
                    <a:pt x="38608" y="555117"/>
                    <a:pt x="0" y="516382"/>
                    <a:pt x="0" y="468757"/>
                  </a:cubicBez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845323" y="12455423"/>
            <a:ext cx="192881" cy="154191"/>
            <a:chOff x="0" y="0"/>
            <a:chExt cx="257175" cy="20558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257175" cy="205613"/>
            </a:xfrm>
            <a:custGeom>
              <a:avLst/>
              <a:gdLst/>
              <a:ahLst/>
              <a:cxnLst/>
              <a:rect r="r" b="b" t="t" l="l"/>
              <a:pathLst>
                <a:path h="205613" w="257175">
                  <a:moveTo>
                    <a:pt x="0" y="0"/>
                  </a:moveTo>
                  <a:lnTo>
                    <a:pt x="257175" y="0"/>
                  </a:lnTo>
                  <a:lnTo>
                    <a:pt x="257175" y="205613"/>
                  </a:lnTo>
                  <a:lnTo>
                    <a:pt x="0" y="205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36" r="0" b="-61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087010" y="3153804"/>
            <a:ext cx="3090862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Strategic Priorities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30163" y="3780733"/>
            <a:ext cx="6139015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54" indent="-265427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Increase retention through loyalty &amp; targeted offers</a:t>
            </a:r>
          </a:p>
          <a:p>
            <a:pPr algn="l" marL="530854" indent="-265427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Reduce cancellations with reminders and flexible policies</a:t>
            </a:r>
          </a:p>
          <a:p>
            <a:pPr algn="l" marL="530854" indent="-265427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Improve data capture and ADR validation rules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91142" y="11030693"/>
            <a:ext cx="10440591" cy="20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Operational tactics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91142" y="11285191"/>
            <a:ext cx="9526191" cy="62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Promote non-refundable discounts for price-sensitive segments</a:t>
            </a:r>
          </a:p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Target city hotel guests with personalized upsells (F&amp;B, late checkout)</a:t>
            </a:r>
          </a:p>
          <a:p>
            <a:pPr algn="l" marL="289560" indent="-144780" lvl="1">
              <a:lnSpc>
                <a:spcPts val="1439"/>
              </a:lnSpc>
              <a:buFont typeface="Arial"/>
              <a:buChar char="•"/>
            </a:pPr>
            <a:r>
              <a:rPr lang="en-US" sz="12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Audit ADR entries and implement bounds/alerts to remove negative or implausible values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92395" y="12343657"/>
            <a:ext cx="9785156" cy="20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Priority: Fix ADR and agent data first — this improves revenue models and customer segmentation.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38049" y="825256"/>
            <a:ext cx="9269911" cy="806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Conclusion &amp; Next Steps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18999" y="2061572"/>
            <a:ext cx="4523480" cy="5347687"/>
            <a:chOff x="0" y="0"/>
            <a:chExt cx="6031306" cy="71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31357" cy="7130288"/>
            </a:xfrm>
            <a:custGeom>
              <a:avLst/>
              <a:gdLst/>
              <a:ahLst/>
              <a:cxnLst/>
              <a:rect r="r" b="b" t="t" l="l"/>
              <a:pathLst>
                <a:path h="7130288" w="6031357">
                  <a:moveTo>
                    <a:pt x="0" y="171577"/>
                  </a:moveTo>
                  <a:cubicBezTo>
                    <a:pt x="0" y="76835"/>
                    <a:pt x="76835" y="0"/>
                    <a:pt x="171577" y="0"/>
                  </a:cubicBezTo>
                  <a:lnTo>
                    <a:pt x="5859780" y="0"/>
                  </a:lnTo>
                  <a:cubicBezTo>
                    <a:pt x="5954522" y="0"/>
                    <a:pt x="6031357" y="76835"/>
                    <a:pt x="6031357" y="171577"/>
                  </a:cubicBezTo>
                  <a:lnTo>
                    <a:pt x="6031357" y="6958711"/>
                  </a:lnTo>
                  <a:cubicBezTo>
                    <a:pt x="6031357" y="7053453"/>
                    <a:pt x="5954522" y="7130288"/>
                    <a:pt x="5859780" y="7130288"/>
                  </a:cubicBezTo>
                  <a:lnTo>
                    <a:pt x="171577" y="7130288"/>
                  </a:lnTo>
                  <a:cubicBezTo>
                    <a:pt x="76835" y="7130288"/>
                    <a:pt x="0" y="7053453"/>
                    <a:pt x="0" y="6958711"/>
                  </a:cubicBezTo>
                  <a:close/>
                </a:path>
              </a:pathLst>
            </a:custGeom>
            <a:solidFill>
              <a:srgbClr val="F7F7F7"/>
            </a:solidFill>
            <a:ln w="38100" cap="sq">
              <a:solidFill>
                <a:srgbClr val="CCCCCC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279902" y="2393899"/>
            <a:ext cx="3801666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Summary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79902" y="2876702"/>
            <a:ext cx="3801666" cy="251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Cleaned and analyzed booking data to surface trends: high cancellations, long lead times, city-hotel concentration, low repeat business, and ADR issues.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703378" y="2061572"/>
            <a:ext cx="4523632" cy="5347687"/>
            <a:chOff x="0" y="0"/>
            <a:chExt cx="6031509" cy="71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31611" cy="7130288"/>
            </a:xfrm>
            <a:custGeom>
              <a:avLst/>
              <a:gdLst/>
              <a:ahLst/>
              <a:cxnLst/>
              <a:rect r="r" b="b" t="t" l="l"/>
              <a:pathLst>
                <a:path h="7130288" w="6031611">
                  <a:moveTo>
                    <a:pt x="0" y="171577"/>
                  </a:moveTo>
                  <a:cubicBezTo>
                    <a:pt x="0" y="76835"/>
                    <a:pt x="76835" y="0"/>
                    <a:pt x="171577" y="0"/>
                  </a:cubicBezTo>
                  <a:lnTo>
                    <a:pt x="5860034" y="0"/>
                  </a:lnTo>
                  <a:cubicBezTo>
                    <a:pt x="5954776" y="0"/>
                    <a:pt x="6031611" y="76835"/>
                    <a:pt x="6031611" y="171577"/>
                  </a:cubicBezTo>
                  <a:lnTo>
                    <a:pt x="6031611" y="6958711"/>
                  </a:lnTo>
                  <a:cubicBezTo>
                    <a:pt x="6031611" y="7053453"/>
                    <a:pt x="5954776" y="7130288"/>
                    <a:pt x="5860034" y="7130288"/>
                  </a:cubicBezTo>
                  <a:lnTo>
                    <a:pt x="171577" y="7130288"/>
                  </a:lnTo>
                  <a:cubicBezTo>
                    <a:pt x="76835" y="7130288"/>
                    <a:pt x="0" y="7053453"/>
                    <a:pt x="0" y="6958711"/>
                  </a:cubicBezTo>
                  <a:close/>
                </a:path>
              </a:pathLst>
            </a:custGeom>
            <a:solidFill>
              <a:srgbClr val="F7F7F7"/>
            </a:solidFill>
            <a:ln w="38100" cap="sq">
              <a:solidFill>
                <a:srgbClr val="CCCCCC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064280" y="2393899"/>
            <a:ext cx="3801818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Next Steps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64280" y="2876702"/>
            <a:ext cx="3801818" cy="417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90" indent="-277495" lvl="1">
              <a:lnSpc>
                <a:spcPts val="3643"/>
              </a:lnSpc>
              <a:buAutoNum type="arabicPeriod" startAt="1"/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Investigate ADR outliers and enforce validation rules</a:t>
            </a:r>
          </a:p>
          <a:p>
            <a:pPr algn="l" marL="554990" indent="-277495" lvl="1">
              <a:lnSpc>
                <a:spcPts val="3643"/>
              </a:lnSpc>
              <a:buAutoNum type="arabicPeriod" startAt="1"/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Run retention pilots (loyalty offers, targeted email campaigns)</a:t>
            </a:r>
          </a:p>
          <a:p>
            <a:pPr algn="l" marL="554990" indent="-277495" lvl="1">
              <a:lnSpc>
                <a:spcPts val="3643"/>
              </a:lnSpc>
              <a:buAutoNum type="arabicPeriod" startAt="1"/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Implement cancellation-reduction experiments and measure impact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918999" y="7670159"/>
            <a:ext cx="9308011" cy="1763020"/>
            <a:chOff x="0" y="0"/>
            <a:chExt cx="12410681" cy="23506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410694" cy="2350643"/>
            </a:xfrm>
            <a:custGeom>
              <a:avLst/>
              <a:gdLst/>
              <a:ahLst/>
              <a:cxnLst/>
              <a:rect r="r" b="b" t="t" l="l"/>
              <a:pathLst>
                <a:path h="2350643" w="12410694">
                  <a:moveTo>
                    <a:pt x="0" y="173863"/>
                  </a:moveTo>
                  <a:cubicBezTo>
                    <a:pt x="0" y="77851"/>
                    <a:pt x="77851" y="0"/>
                    <a:pt x="173863" y="0"/>
                  </a:cubicBezTo>
                  <a:lnTo>
                    <a:pt x="12236831" y="0"/>
                  </a:lnTo>
                  <a:cubicBezTo>
                    <a:pt x="12332843" y="0"/>
                    <a:pt x="12410694" y="77851"/>
                    <a:pt x="12410694" y="173863"/>
                  </a:cubicBezTo>
                  <a:lnTo>
                    <a:pt x="12410694" y="2176780"/>
                  </a:lnTo>
                  <a:cubicBezTo>
                    <a:pt x="12410694" y="2272792"/>
                    <a:pt x="12332843" y="2350643"/>
                    <a:pt x="12236831" y="2350643"/>
                  </a:cubicBezTo>
                  <a:lnTo>
                    <a:pt x="173863" y="2350643"/>
                  </a:lnTo>
                  <a:cubicBezTo>
                    <a:pt x="77851" y="2350643"/>
                    <a:pt x="0" y="2272792"/>
                    <a:pt x="0" y="2176780"/>
                  </a:cubicBezTo>
                  <a:close/>
                </a:path>
              </a:pathLst>
            </a:custGeom>
            <a:solidFill>
              <a:srgbClr val="F7F7F7"/>
            </a:solidFill>
            <a:ln w="38100" cap="sq">
              <a:solidFill>
                <a:srgbClr val="CCCCCC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279902" y="8002486"/>
            <a:ext cx="8586187" cy="40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79902" y="8485289"/>
            <a:ext cx="8586187" cy="58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Questions? Contact: Chinmay Ashok Murkar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DAHQfeDAKFo</dc:identifier>
  <dcterms:modified xsi:type="dcterms:W3CDTF">2011-08-01T06:04:30Z</dcterms:modified>
  <cp:revision>1</cp:revision>
  <dc:title>Hotel-Booking-Data-Analysis-using-Python.pptx</dc:title>
</cp:coreProperties>
</file>